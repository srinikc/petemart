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0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1563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37160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  <a:latin typeface="Calibri"/>
              </a:defRPr>
            </a:pPr>
            <a:r>
              <a:t>03 Architect Agent — Completion Summary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94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DDDDDD"/>
                </a:solidFill>
                <a:latin typeface="Calibri"/>
              </a:defRPr>
            </a:pPr>
            <a:r>
              <a:t>03_architect_agent | Senior Enterprise Solution Architect | Phase 1: Front-Office &amp; Architectural Layer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Deliverables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Full Product Architecture blueprint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POC Architecture (subset, zero-cost)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Mermaid.js C4 diagrams (context, container, component)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PlantUML sequence &amp; deployment diagrams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API-first strategy with caching &amp; message-queue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Cost models for POC (₹0/mo) and Production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17920" y="1280160"/>
            <a:ext cx="5486400" cy="34747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09360" y="137160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5638C"/>
                </a:solidFill>
                <a:latin typeface="Calibri"/>
              </a:defRPr>
            </a:pPr>
            <a:r>
              <a:t>Key Metrics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1737360"/>
            <a:ext cx="502920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Architecture Blueprints: 2 (Full + POC)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Architectural Diagrams: 5+ (C4, data flow, deployment)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POC Cost: ₹0/month (Supabase Free, Vercel Hobby)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Production Cost Model: Full scalability to 5K+ merchants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Tech Stack Layers: 13 (Frontend to Analytics)</a:t>
            </a:r>
          </a:p>
          <a:p>
            <a:pPr>
              <a:spcAft>
                <a:spcPts val="300"/>
              </a:spcAft>
              <a:defRPr sz="1100">
                <a:solidFill>
                  <a:srgbClr val="2C2C2C"/>
                </a:solidFill>
                <a:latin typeface="Calibri"/>
              </a:defRPr>
            </a:pPr>
            <a:r>
              <a:t>• Security Framework: Multi-layer (RLS, JWT, CORS, rate-limit)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937760"/>
            <a:ext cx="11247120" cy="164592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50292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C2C2C"/>
                </a:solidFill>
                <a:latin typeface="Calibri"/>
              </a:defRPr>
            </a:pPr>
            <a:r>
              <a:t>Status: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2E7D32"/>
                </a:solidFill>
                <a:latin typeface="Calibri"/>
              </a:defRPr>
            </a:pPr>
            <a:r>
              <a:t>Approved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502920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7F8C8D"/>
                </a:solidFill>
                <a:latin typeface="Calibri"/>
              </a:defRPr>
            </a:pPr>
            <a:r>
              <a:t>Date: 2026-05-30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5394960"/>
            <a:ext cx="10881360" cy="36576"/>
          </a:xfrm>
          <a:prstGeom prst="rect">
            <a:avLst/>
          </a:prstGeom>
          <a:solidFill>
            <a:srgbClr val="D4A0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48640" y="557784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7F8C8D"/>
                </a:solidFill>
                <a:latin typeface="Calibri"/>
              </a:defRPr>
            </a:pPr>
            <a:r>
              <a:t>PeteMart Agentic Framework | Supervisor: Agent 00 | Generated via python-pptx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