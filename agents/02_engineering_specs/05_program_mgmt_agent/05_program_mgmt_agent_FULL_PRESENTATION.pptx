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D4A03C"/>
                </a:solidFill>
                <a:latin typeface="Calibri"/>
              </a:defRPr>
            </a:pPr>
            <a:r>
              <a:t>PeteMart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Program Management — Agile Sprint Plan &amp; Delivery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286000"/>
            <a:ext cx="2743200" cy="36576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BBBBBB"/>
                </a:solidFill>
                <a:latin typeface="Calibri"/>
              </a:defRPr>
            </a:pPr>
            <a:r>
              <a:t>Program Management Review Package</a:t>
            </a:r>
          </a:p>
          <a:p>
            <a:pPr>
              <a:spcAft>
                <a:spcPts val="300"/>
              </a:spcAft>
              <a:defRPr sz="1400">
                <a:solidFill>
                  <a:srgbClr val="BBBBBB"/>
                </a:solidFill>
                <a:latin typeface="Calibri"/>
              </a:defRPr>
            </a:pPr>
            <a:r>
              <a:t>Agent 05 — Senior Agile Program Manager &amp; Scrum Master</a:t>
            </a:r>
          </a:p>
          <a:p>
            <a:pPr>
              <a:spcAft>
                <a:spcPts val="300"/>
              </a:spcAft>
              <a:defRPr sz="1400">
                <a:solidFill>
                  <a:srgbClr val="BBBBBB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BBBBBB"/>
                </a:solidFill>
                <a:latin typeface="Calibri"/>
              </a:defRPr>
            </a:pPr>
            <a:r>
              <a:t>Presented for: Product &amp; Engineering Review</a:t>
            </a:r>
          </a:p>
          <a:p>
            <a:pPr>
              <a:spcAft>
                <a:spcPts val="300"/>
              </a:spcAft>
              <a:defRPr sz="1400">
                <a:solidFill>
                  <a:srgbClr val="BBBBBB"/>
                </a:solidFill>
                <a:latin typeface="Calibri"/>
              </a:defRPr>
            </a:pPr>
            <a:r>
              <a:t>Date: May 2026</a:t>
            </a:r>
          </a:p>
          <a:p>
            <a:pPr>
              <a:spcAft>
                <a:spcPts val="300"/>
              </a:spcAft>
              <a:defRPr sz="1400">
                <a:solidFill>
                  <a:srgbClr val="BBBBBB"/>
                </a:solidFill>
                <a:latin typeface="Calibri"/>
              </a:defRPr>
            </a:pPr>
            <a:r>
              <a:t>Execution Model: 3 AI Agents in Parallel (6x human velocity)</a:t>
            </a:r>
          </a:p>
          <a:p>
            <a:pPr>
              <a:spcAft>
                <a:spcPts val="300"/>
              </a:spcAft>
              <a:defRPr sz="1400">
                <a:solidFill>
                  <a:srgbClr val="BBBBBB"/>
                </a:solidFill>
                <a:latin typeface="Calibri"/>
              </a:defRPr>
            </a:pPr>
            <a:r>
              <a:t>Total Duration: 22 Days | MVP: 12 Days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38C"/>
                </a:solidFill>
                <a:latin typeface="Calibri"/>
              </a:defRPr>
            </a:pPr>
            <a:r>
              <a:t>Executive Summary — Program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Calibri"/>
              </a:defRPr>
            </a:pPr>
            <a:r>
              <a:t>AI-agent execution: 22 days full product vs 24 weeks human-equivalent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5603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5638C"/>
                </a:solidFill>
                <a:latin typeface="Calibri"/>
              </a:defRPr>
            </a:pPr>
            <a: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Epics Defined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188720"/>
            <a:ext cx="25603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325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7D32"/>
                </a:solidFill>
                <a:latin typeface="Calibri"/>
              </a:defRPr>
            </a:pPr>
            <a:r>
              <a:t>113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User Stories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25603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325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B1FA2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Sprints (2-day)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1188720"/>
            <a:ext cx="25603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1325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4A03C"/>
                </a:solidFill>
                <a:latin typeface="Calibri"/>
              </a:defRPr>
            </a:pPr>
            <a:r>
              <a:t>22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Full Delivery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468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5638C"/>
                </a:solidFill>
                <a:latin typeface="Calibri"/>
              </a:defRPr>
            </a:pPr>
            <a:r>
              <a:t>Execution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0175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3 AI Agents Run in Parallel at Machine Speed: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Agent 07a (UI) — Frontend &amp; Mobile Interface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  • Google Stitch generates React components from NL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  • 30+ screens across all personas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  • DESIGN.md → Tailwind config pipeline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Agent 07b (API) — Interface Connection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  • All RESTful endpoints (/api/v1/*)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  • Rate limiting, auth middleware, Zod validation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  • Mock endpoints → live data routing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Agent 07c (Backend DB) — Data Infrastructure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  • 35-table PostgreSQL schema (15 POC)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  • RLS policies, migrations, indexes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  • Redis cache + Supabase Realtime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Each 2-day sprint = 3 agents × full sprint output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No human bottlenecks — artifacts in hours, not weeks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468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5638C"/>
                </a:solidFill>
                <a:latin typeface="Calibri"/>
              </a:defRPr>
            </a:pPr>
            <a:r>
              <a:t>Jira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0175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Jira's Role in the Agentic AI Pipeline: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STATE_MATRIX.json is the SOURCE OF TRUTH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→ Agents read/write state here, NOT in Jira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Jira is the HUMAN VISIBILITY LAYER: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→ Stakeholders see progress without reading JSON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→ Read-only mirror of agent state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What gets pushed to Jira: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→ Epics, Features, User Stories (via API)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→ Sprint boards with status per story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→ Milestone tracking &amp; gate status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→ Bug/defect tracking (Agent 11)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Agents NEVER read from Jira for decisions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Jira = human reporting, not agent orchestration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Batch import ready: all 113 stories mapped to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epics, sprints, dependencies, and requirement IDs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38C"/>
                </a:solidFill>
                <a:latin typeface="Calibri"/>
              </a:defRPr>
            </a:pPr>
            <a:r>
              <a:t>Epic Hierarchy — 26 Epics Across 6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Calibri"/>
              </a:defRPr>
            </a:pPr>
            <a:r>
              <a:t>Every epic traceable to PRD requirement IDs. Total: 72 features → 113 user stories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88696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3200400"/>
                <a:gridCol w="1097280"/>
                <a:gridCol w="1097280"/>
                <a:gridCol w="1097280"/>
              </a:tblGrid>
              <a:tr h="196426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Epic ID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Epic Name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Features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Stories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Sprint Range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</a:tr>
              <a:tr h="19642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Foundation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EPIC-01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Customer Auth &amp; Persona Mgmt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S1-S2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642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Foundation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EPIC-02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Browse &amp; Discovery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S1-S3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19642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Foundation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EPIC-17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Infrastructure, Security &amp; Compliance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S1-S8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642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Commerce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EPIC-03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Shopping Cart &amp; Checkout (Mode A)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S2-S4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19642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Commerce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EPIC-04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WhatsApp Enquiry (Mode 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S2-S3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642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Commerce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EPIC-05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Store Visit (Mode C)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S2-S3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19642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Commerce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EPIC-09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Payment Processing &amp; Settlement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S3-S5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642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Commerce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EPIC-10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Multi-Store Consolidation &amp; Delivery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S4-S6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19642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EPIC-06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Merchant Dashboard &amp; Microsite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S2-S5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642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Ops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EPIC-07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Admin Console &amp; Operations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S3-S6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19642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EPIC-08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Order Management &amp;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S3-S5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642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Ops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EPIC-11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Persona-Based Navigation &amp; UX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S4-S6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19642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EPIC-15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Merchant Catalog &amp; Inventory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S4-S6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642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Ops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EPIC-24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PWA &amp; Offline-First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S5-S6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19642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Growth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EPIC-12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Mobile App (Expo)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S5-S7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642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Growth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EPIC-13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Reviews, Ratings &amp; Trust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S5-S7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19642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Growth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EPIC-14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Promo Engine &amp; Loyalty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S6-S7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642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Growth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EPIC-16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Subscriptions &amp; Billing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S5-S7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19642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Growth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EPIC-18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National Shipping (ShipRocket)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S6-S8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642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Scale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EPIC-19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AI Virtual Try-On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S7-S9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19642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Scale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EPIC-20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Jewellery &amp; Bullion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S7-S9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642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Scale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EPIC-21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Video Call &amp; Trust Features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S8-S9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19642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Scale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EPIC-22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City Expansion &amp; Multi-Geo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S8-S10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642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Scale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EPIC-23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Analytics &amp; CDP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S7-S9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19642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Vision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EPIC-25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Virtual Walk &amp; Live Bazaar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S10-S12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644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Vision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EPIC-26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Co-Shopping &amp; Community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S11-S12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38C"/>
                </a:solidFill>
                <a:latin typeface="Calibri"/>
              </a:defRPr>
            </a:pPr>
            <a:r>
              <a:t>Sprint Timeline — 12 Sprints in 22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Calibri"/>
              </a:defRPr>
            </a:pPr>
            <a:r>
              <a:t>2-day sprint cadence | 3 agents in parallel = 120 story points per sprint | MVP = 12 days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39319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3931920" cy="411480"/>
          </a:xfrm>
          <a:prstGeom prst="rect">
            <a:avLst/>
          </a:prstGeom>
          <a:solidFill>
            <a:srgbClr val="156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34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1: 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3657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📅 S1-S2 (D1-D4)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Auth &amp; Registration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Pete Tapestry landing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Search &amp; Discovery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CI/CD + Infra setup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188720"/>
            <a:ext cx="39319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188720"/>
            <a:ext cx="393192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234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2: Commerce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691640"/>
            <a:ext cx="3657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📅 S3-S4 (D5-D8)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Multi-store cart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Checkout + payment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Merchant dashboard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Delivery zones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0" y="1188720"/>
            <a:ext cx="39319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03920" y="1188720"/>
            <a:ext cx="393192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1234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3: 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1691640"/>
            <a:ext cx="3657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📅 S5-S6 (D9-D12)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Admin console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i18n + PWA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Order tracking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Feature flags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572000"/>
            <a:ext cx="11612880" cy="2011680"/>
          </a:xfrm>
          <a:prstGeom prst="rect">
            <a:avLst/>
          </a:prstGeom>
          <a:solidFill>
            <a:srgbClr val="F0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663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MVP Boundary: Sprints 1-6 (Days 1-12)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1206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Tier 1 (Days 13-14): Mobile (Expo), i18n, Reviews, Subscriptions  |  Tier 2 (Days 15-16): Promo Engine, ShipRocket, Loyalty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Tier 3 (Days 17-18): AI Try-On, Bullion Rates, City Expansion, Analytics  |  Tier 4 (Days 19-22): Virtual Walk, Live Bazaar, Co-Shopping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Gates: GATE-MVP-01 ✅ | GATE-COSTING-01 (End of S10) | GATE-PRODUCTION-01 (End of S12)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38C"/>
                </a:solidFill>
                <a:latin typeface="Calibri"/>
              </a:defRPr>
            </a:pPr>
            <a:r>
              <a:t>User Story Breakdown — 113 Stories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Calibri"/>
              </a:defRPr>
            </a:pPr>
            <a:r>
              <a:t>Every story traceable to Requirement ID. Authored with acceptance criteria and story points.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8686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200400"/>
                <a:gridCol w="1097280"/>
                <a:gridCol w="731520"/>
                <a:gridCol w="1371600"/>
                <a:gridCol w="1371600"/>
              </a:tblGrid>
              <a:tr h="239485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Story ID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Story Title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Epic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Points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Dependencies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</a:tr>
              <a:tr h="23948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US-001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Customer OTP Registration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EPIC-01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UI+API+DB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948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US-002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Customer OTP Login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EPIC-01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US-001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UI+API+DB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23948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US-004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Merchant Registration Wizard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EPIC-06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US-008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UI+API+DB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948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US-010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Pete Tapestry Landing Page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EPIC-02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UI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23948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US-012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Search with Autocomplete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EPIC-02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US-010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UI+API+DB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948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US-015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Merchant Microsite (Public)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EPIC-06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US-004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UI+API+DB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23948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US-019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Multi-Merchant Cart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EPIC-03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US-017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UI+API+DB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948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US-021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Consolidated Checkout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EPIC-03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US-020, US-060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UI+API+DB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23948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US-023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Razorpay Payment Widget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EPIC-09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US-021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UI+API+DB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948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US-026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Order Lifecycle Engine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EPIC-08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US-024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API+DB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23948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US-035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Merchant Dashboard Overview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EPIC-06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US-026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UI+API+DB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948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US-046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Admin Dashboard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EPIC-07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US-006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UI+API+DB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23948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US-049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Feature Flag &amp; Kill Switch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EPIC-07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US-048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UI+API+DB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948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US-060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Multi-Store Consolidation Engine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EPIC-10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US-021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DB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23948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US-072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Product &amp; Merchant Reviews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EPIC-13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US-026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UI+API+DB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948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US-089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CI/CD Pipeline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EPIC-17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US-088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Infra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23948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US-095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ShipRocket Opt-In &amp; Setup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EPIC-18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US-040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UI+API+DB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948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US-097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AI Try-On for Apparel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EPIC-19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US-017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UI+API+DB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23948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US-111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Pete Street Virtual Walk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EPIC-25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US-015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UI+API+DB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95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US-113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Shop Together Co-Shopping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EPIC-26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US-111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UI+API+DB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38C"/>
                </a:solidFill>
                <a:latin typeface="Calibri"/>
              </a:defRPr>
            </a:pPr>
            <a:r>
              <a:t>MVP Scope — Sprints 1-6 (Days 1-12)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Calibri"/>
              </a:defRPr>
            </a:pPr>
            <a:r>
              <a:t>Approved via GATE-MVP-01 | Auth-first approach | Customer + Merchant + Admin verticals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✅ IN SCOPE — MVP (Days 1-12):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Customer Features: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• Phone OTP registration &amp; login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• Landing page with Pete Tapestry (21 markets)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• Product search with autocomplete &amp; filters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• Product detail with images, price, mode badges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• Multi-merchant shopping cart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• Consolidated checkout with delivery fee calc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• Razorpay payment (UPI, Card, NetBanking)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• Order confirmation &amp; tracking (status timeline)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• Order history page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• WhatsApp deep link (Mode B)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• Store visit interface (Mode C) w/ Google Maps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• Guest browsing (register at checkout)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Merchant Features: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• Registration wizard (phone → business → plan → modes)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• Bank details + Razorpay subaccount creation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• Store microsite at petemart.in/{shop-slug}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• Product CRUD + Bulk CSV upload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• Order management + GST invoice generation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• Dashboard (orders, revenue, product count)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• Real-time order alerts + inventory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Admin Features: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• Email+password + OTP 2FA login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• Merchant approval queue (one-click approve/reject)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• Platform dashboard (merchants, orders, revenue)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• Feature flag management with kill switch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• Admin config (delivery zones, rates)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• City selector (Bangalore only at MVP)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Infrastructure: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• Supabase Free (PostgreSQL, Auth, Storage, Realtime)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• Vercel Hobby (Next.js hosting)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• CI/CD via GitHub Actions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• HTTPS/TLS, RLS, RBAC, Persona-aware nav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❌ OUT OF SCOPE — Post-MVP: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Tier 1 (Days 13-14): Mobile apps (PWA suffices),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  i18n, push notifications, zero-downtime deploys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Tier 2 (Days 15-16): Reviews, promos, loyalty,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  ShipRocket, payment escrow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Tier 3 (Days 17-18): AI Try-On, bullion rates,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  city expansion, analytics pipeline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Tier 4 (Days 19-22): Virtual Walk, Live Bazaar,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  Co-Shopping (visionary features)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38C"/>
                </a:solidFill>
                <a:latin typeface="Calibri"/>
              </a:defRPr>
            </a:pPr>
            <a:r>
              <a:t>Customer Workflows — 5 Personas, Complete Journey Maps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Calibri"/>
              </a:defRPr>
            </a:pPr>
            <a:r>
              <a:t>Step-by-step flows for Customer, Merchant, Admin, Delivery Partner, and B2B Buyer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3749039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3749039" cy="411480"/>
          </a:xfrm>
          <a:prstGeom prst="rect">
            <a:avLst/>
          </a:prstGeom>
          <a:solidFill>
            <a:srgbClr val="156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3444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Customer Journey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347471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Guest → Landing Page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→ Browse Markets (21 Pete areas)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→ Search Products (PgFTS)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→ View Product Detail (Mode A/B/C)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→ Add to Cart (single store)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→ Add from another store (multi-cart)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→ Checkout (consolidated)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→ Pay via Razorpay (UPI/Card/NB)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→ Order Confirmed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→ Track Order (status timeline)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→ Receive Delivery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→ Rate &amp; Review (post-MVP)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Modes: A=Direct Purchase, B=WhatsApp, C=Visit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188720"/>
            <a:ext cx="3749039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188720"/>
            <a:ext cx="3749039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23444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Merchant Journey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691640"/>
            <a:ext cx="347471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Register (OTP) → Business Details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→ Select Plan (Starter/Growth/Premium)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→ Choose Modes (A, B, C)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→ Enter Bank Details (Razorpay subaccount)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→ Upload Cancelled Cheque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→ Await Admin Approval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→ Store Goes Live !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→ Add Products (manual/CSV)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→ Receive Orders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→ Fulfill &amp; Mark Status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→ View Analytics &amp; Payout Reports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→ Withdraw Earnings (Razorpay Route)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Dashboard: Overview, Products, Orders, Analytics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188720"/>
            <a:ext cx="3749039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188720"/>
            <a:ext cx="3749039" cy="41148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23444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Admin Journey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691640"/>
            <a:ext cx="347471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Login (Email+OTP) → Dashboard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→ Review Merchant Applications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→ Approve/Reject (one-click)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→ Monitor Platform Orders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→ Configure Delivery Zones &amp; Rates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→ Manage Feature Flags &amp; Kill Switch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→ View Platform Analytics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→ Manage City Settings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→ Handle Disputes (manual for MVP)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Console: Dashboard, Merchants, Orders, Config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Delivery Partner (Courier):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Login → Today's Route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→ Pickups from Merchant A → B → C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→ Consolidate at Micro-Hub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→ Single-drop Delivery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→ GPS Broadcast (30s intervals)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→ Earnings Dashboard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38C"/>
                </a:solidFill>
                <a:latin typeface="Calibri"/>
              </a:defRPr>
            </a:pPr>
            <a:r>
              <a:t>Acceptance Criteria &amp; Quality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Calibri"/>
              </a:defRPr>
            </a:pPr>
            <a:r>
              <a:t>Every story has acceptance criteria. Sprint reviews + HITL gates at key milestones.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116128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914400"/>
                <a:gridCol w="704088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Gate ID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Triggered By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Sprint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Verification Items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GATE-TECH-STACK-01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Architect (03)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Supabase schema, Auth OTP, Vercel deploy, RLS, CI/CD, Stitch demo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GATE-MVP-01 ✅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Program Mgmt (05)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S4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Market Explorer, Purchase Flow, Merchant Onboarding, WhatsApp, Maps, UX labels, Auth nav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GATE-COSTING-01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Architect (03)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₹0/mo infra, cost dashboard, budget alerts, scaling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GATE-PRODUCTION-01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Production (09)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S12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All P0/P1 done, 0 critical defects, 80% coverage, E2E pass, perf &lt;300ms, security clean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5638C"/>
                </a:solidFill>
                <a:latin typeface="Calibri"/>
              </a:defRPr>
            </a:pPr>
            <a:r>
              <a:t>Sample Acceptance Criteria (US-021: Consolidated Checkout)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114800"/>
            <a:ext cx="11612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✅ User can see items from multiple merchants grouped by store in a single checkout page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✅ Delivery fee calculated as: MAX(Zone Rate) + (₹25 × (N-1)) + Weight Surcharge — displayed before payment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✅ User can remove items from any store without affecting other stores' items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✅ User can enter/select delivery address — validated for zone coverage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✅ Coupon code field shown (disabled for MVP — "Coming Soon" state)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✅ Order summary shows: subtotal per store, delivery fee, platform fee, total payable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✅ "Place Order" button triggers Razorpay checkout widget — disabled if any store has ₹0 items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✅ If cart has items from only Mode B/C merchants, checkout redirects to WhatsApp/enquiry flow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38C"/>
                </a:solidFill>
                <a:latin typeface="Calibri"/>
              </a:defRPr>
            </a:pPr>
            <a:r>
              <a:t>Sprint Capacity — Agent-Optimized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Calibri"/>
              </a:defRPr>
            </a:pPr>
            <a:r>
              <a:t>3 parallel agents (UI + API + Backend) = 120 pts/sprint. All sprints within capacity.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6400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914400"/>
                <a:gridCol w="914400"/>
                <a:gridCol w="914400"/>
                <a:gridCol w="1371600"/>
                <a:gridCol w="1554480"/>
              </a:tblGrid>
              <a:tr h="386861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Sprint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Days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Stories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Points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Agent Capacity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🟢 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S2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3-4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44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🟢 High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5-6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🟢 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S4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7-8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42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🟢 High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9-10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🟢 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S6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11-12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62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🟢 High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13-14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🟢 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S8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15-16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33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🟢 Underloaded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17-18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🟢 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S10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19-20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🟢 Underloaded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21-22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🟢 Underloaded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S12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23-24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🟢 High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94944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Key Metrics: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Total Story Points: 474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MVP Points (S1-S6): 264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Avg Sprint Velocity: 120 pts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Agent Count: 3 (parallel)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Delivery Milestones: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M-T0-01: Market Explorer (D4)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M-T0-02: Direct Purchase Flow (D10)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M-T0-03: Merchant Go-Live (D8)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M-T1-01: Multi-Channel Access (D12)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M-T1-02: Admin Command Center (D12)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M-T2-01: Trust &amp; Engagement (D14)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M-T2-02: Pan-India Shipping (D16)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M-T3-01: AI Try-On &amp; Jewellery (D18)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M-T4-01: Virtual Walk (D22)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M-T4-02: Live Bazaar (D24)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All milestones within sprint capacity. No overload scenarios.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38C"/>
                </a:solidFill>
                <a:latin typeface="Calibri"/>
              </a:defRPr>
            </a:pPr>
            <a:r>
              <a:t>Dependency Graph — Critical Path &amp; Parallel Tracks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Calibri"/>
              </a:defRPr>
            </a:pPr>
            <a:r>
              <a:t>No deadlocks. All 113 stories mapped. 3 parallel tracks (UI, API, DB).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11612880" cy="1371600"/>
          </a:xfrm>
          <a:prstGeom prst="rect">
            <a:avLst/>
          </a:prstGeom>
          <a:solidFill>
            <a:srgbClr val="F0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62828"/>
                </a:solidFill>
                <a:latin typeface="Calibri"/>
              </a:defRPr>
            </a:pPr>
            <a:r>
              <a:t>CRITICAL PATH: S1 → S2 → S3 → S4 → S5 → S6 → S7 → S8 → S9 → S10 → S11 → S12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S1 (Auth+Landing) → S2 (Merchant+Search) → S3 (Cart+Payment) → S4 (Dashboard+Delivery) → S5 (Admin+Tracking) → S6 (i18n+Config)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→ S7 (Mobile+Reviews) → S8 (Promo+ShipRocket) → S9 (AI+Jewellery) → S10 (City+Analytics) → S11 (Virtual Walk) → S12 (Co-Shopping)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743200"/>
            <a:ext cx="3749039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2743200"/>
            <a:ext cx="3749039" cy="411480"/>
          </a:xfrm>
          <a:prstGeom prst="rect">
            <a:avLst/>
          </a:prstGeom>
          <a:solidFill>
            <a:srgbClr val="156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78892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Parallel Track: UI Agent (07a)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246120"/>
            <a:ext cx="3474719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Landing Pages (S1), Search/Discovery UI (S1-S2), Cart/Checkout UI (S3),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Merchant Dashboard (S4), Admin Console (S5), i18n/PWA (S6),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Mobile Expo App (S7), Reviews UI (S7), Promo Engine UI (S8),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AI Try-On UI (S9), City Expansion UI (S10), Virtual Walk (S11-S12)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2743200"/>
            <a:ext cx="3749039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2743200"/>
            <a:ext cx="3749039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278892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Parallel Track: API Agent (07b)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3246120"/>
            <a:ext cx="3474719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Auth API + RBAC (S1), Product/Merchant API (S2), Cart/Checkout API (S3),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Order/Delivery API (S4), Admin/Tracking API (S5), i18n/Config API (S6),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Mobile API + Reviews (S7), Promo/ShipRocket API (S8),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AI/Bullion API (S9), City/Video API (S10), Virtual API (S11-S12)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2743200"/>
            <a:ext cx="3749039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2743200"/>
            <a:ext cx="3749039" cy="41148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278892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Parallel Track: Backend DB Agent (07c)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246120"/>
            <a:ext cx="3474719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Supabase Schema + Auth (S1), Product/Merchant Tables (S2),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Order/Payment Schema (S3), Delivery/Zone Config (S4),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Admin/Tracking Tables (S5), i18n/City Schema (S6),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Reviews/Subscription Schema (S7), Promo/ShipRocket (S8),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AI/Bullion Schema (S9), City Expansion Tables (S10),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Virtual Walk/Live Bazaar Schema (S11-S12)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Calibri"/>
              </a:defRPr>
            </a:pPr>
            <a:r>
              <a:t>✅ Guardrail PASS: No deadlocks or unmapped dependencies | All 113 stories have resolved dependency chains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38C"/>
                </a:solidFill>
                <a:latin typeface="Calibri"/>
              </a:defRPr>
            </a:pPr>
            <a:r>
              <a:t>QA Verification &amp; Promotion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Calibri"/>
              </a:defRPr>
            </a:pPr>
            <a:r>
              <a:t>Strict environment promotion criteria. No code reaches Production without clearing all gates.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3749039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3749039" cy="411480"/>
          </a:xfrm>
          <a:prstGeom prst="rect">
            <a:avLst/>
          </a:prstGeom>
          <a:solidFill>
            <a:srgbClr val="156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3444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Dev → QA 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347471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Condition: All unit tests pass (80%+ coverage)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Verifier: CI Pipeline (GitHub Actions)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Blocking: ✅ Yes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What runs: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• Vitest + React Testing Library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• API endpoint contract tests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• Lint + TypeScript checks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• Build verification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188720"/>
            <a:ext cx="3749039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188720"/>
            <a:ext cx="3749039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23444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QA → Staging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691640"/>
            <a:ext cx="347471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Condition: E2E tests pass, No P0/P1 defects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Verifier: QA Agent (08) — Senior Test Architect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Blocking: ✅ Yes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What runs: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• Playwright E2E (critical journeys)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• API integration tests (Supertest + MSW)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• Lighthouse CI (LCP &lt; 2.5s)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• k6 load test (100 concurrent users)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188720"/>
            <a:ext cx="3749039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188720"/>
            <a:ext cx="3749039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23444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Staging → Production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691640"/>
            <a:ext cx="347471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Condition: All QA criteria + Security scan + HITL sign-off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Verifier: QA Agent (08) + Production Agent (09)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Blocking: ✅ Yes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What runs: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• Full regression suite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• OWASP ZAP security scan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• Secrets scan (no hardcoded creds)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• Performance validation (p95 &lt; 300ms)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• Human gate: GATE-PRODUCTION-01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D4A03C"/>
                </a:solidFill>
                <a:latin typeface="Calibri"/>
              </a:defRPr>
            </a:pPr>
            <a:r>
              <a:t>PeteMart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Program Management — Ready for Execution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383280"/>
            <a:ext cx="2743200" cy="36576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BBBBBB"/>
                </a:solidFill>
                <a:latin typeface="Calibri"/>
              </a:defRPr>
            </a:pPr>
            <a:r>
              <a:t>26 Epics · 72 Features · 113 User Stories · 12 Sprints · 22 Days</a:t>
            </a:r>
          </a:p>
          <a:p>
            <a:pPr>
              <a:spcAft>
                <a:spcPts val="300"/>
              </a:spcAft>
              <a:defRPr sz="1400">
                <a:solidFill>
                  <a:srgbClr val="BBBBBB"/>
                </a:solidFill>
                <a:latin typeface="Calibri"/>
              </a:defRPr>
            </a:pPr>
            <a:r>
              <a:t>MPV: 12 Days (Sprints 1-6) | Full Product: 22 Days (Sprints 1-12)</a:t>
            </a:r>
          </a:p>
          <a:p>
            <a:pPr>
              <a:spcAft>
                <a:spcPts val="300"/>
              </a:spcAft>
              <a:defRPr sz="1400">
                <a:solidFill>
                  <a:srgbClr val="BBBBBB"/>
                </a:solidFill>
                <a:latin typeface="Calibri"/>
              </a:defRPr>
            </a:pPr>
            <a:r>
              <a:t>Execution: 3 AI Agents in Parallel (6x human velocity)</a:t>
            </a:r>
          </a:p>
          <a:p>
            <a:pPr>
              <a:spcAft>
                <a:spcPts val="300"/>
              </a:spcAft>
              <a:defRPr sz="1400">
                <a:solidFill>
                  <a:srgbClr val="BBBBBB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BBBBBB"/>
                </a:solidFill>
                <a:latin typeface="Calibri"/>
              </a:defRPr>
            </a:pPr>
            <a:r>
              <a:t>GATE-MVP-01 ✅ Approved — Phase 3 agents building now</a:t>
            </a:r>
          </a:p>
          <a:p>
            <a:pPr>
              <a:spcAft>
                <a:spcPts val="300"/>
              </a:spcAft>
              <a:defRPr sz="1400">
                <a:solidFill>
                  <a:srgbClr val="BBBBBB"/>
                </a:solidFill>
                <a:latin typeface="Calibri"/>
              </a:defRPr>
            </a:pPr>
            <a:r>
              <a:t>Jira-ready backlog: all stories mapped with dependencies and requirement IDs</a:t>
            </a:r>
          </a:p>
          <a:p>
            <a:pPr>
              <a:spcAft>
                <a:spcPts val="300"/>
              </a:spcAft>
              <a:defRPr sz="1400">
                <a:solidFill>
                  <a:srgbClr val="BBBBBB"/>
                </a:solidFill>
                <a:latin typeface="Calibri"/>
              </a:defRPr>
            </a:pPr>
            <a:r>
              <a:t>Next Gate: GATE-COSTING-01 (End of S10)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A03C"/>
                </a:solidFill>
                <a:latin typeface="Calibri"/>
              </a:defRPr>
            </a:pPr>
            <a:r>
              <a:t>Thank You | Program Review &amp; 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