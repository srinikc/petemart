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Requirements</c:v>
                </c:pt>
              </c:strCache>
            </c:strRef>
          </c:tx>
          <c:spPr>
            <a:solidFill>
              <a:srgbClr val="15638C"/>
            </a:solidFill>
          </c:spPr>
          <c:cat>
            <c:strRef>
              <c:f>Sheet1!$A$2:$A$11</c:f>
              <c:strCache>
                <c:ptCount val="10"/>
                <c:pt idx="0">
                  <c:v>UI/UX</c:v>
                </c:pt>
                <c:pt idx="1">
                  <c:v>Backend/Data</c:v>
                </c:pt>
                <c:pt idx="2">
                  <c:v>API</c:v>
                </c:pt>
                <c:pt idx="3">
                  <c:v>Infra/Security</c:v>
                </c:pt>
                <c:pt idx="4">
                  <c:v>Commerce</c:v>
                </c:pt>
                <c:pt idx="5">
                  <c:v>Maintenance</c:v>
                </c:pt>
                <c:pt idx="6">
                  <c:v>DR</c:v>
                </c:pt>
                <c:pt idx="7">
                  <c:v>Funnels</c:v>
                </c:pt>
                <c:pt idx="8">
                  <c:v>Perf/Scale</c:v>
                </c:pt>
                <c:pt idx="9">
                  <c:v>Privacy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</c:v>
                </c:pt>
                <c:pt idx="1">
                  <c:v>26</c:v>
                </c:pt>
                <c:pt idx="2">
                  <c:v>13</c:v>
                </c:pt>
                <c:pt idx="3">
                  <c:v>11</c:v>
                </c:pt>
                <c:pt idx="4">
                  <c:v>10</c:v>
                </c:pt>
                <c:pt idx="5">
                  <c:v>5</c:v>
                </c:pt>
                <c:pt idx="6">
                  <c:v>4</c:v>
                </c:pt>
                <c:pt idx="7">
                  <c:v>4</c:v>
                </c:pt>
                <c:pt idx="8">
                  <c:v>3</c:v>
                </c:pt>
                <c:pt idx="9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D4A03C"/>
                </a:solidFill>
                <a:latin typeface="Calibri"/>
              </a:defRPr>
            </a:pPr>
            <a:r>
              <a:t>PeteMart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Hyper-Local E-Commerce Marketplace for Old Bangalore's Historic Pete Markets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2743200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Management Presentation</a:t>
            </a:r>
          </a:p>
          <a:p>
            <a:pPr>
              <a:spcAft>
                <a:spcPts val="4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Phase 1: Ideation &amp; Requirements — Review Package</a:t>
            </a:r>
          </a:p>
          <a:p>
            <a:pPr>
              <a:spcAft>
                <a:spcPts val="400"/>
              </a:spcAft>
              <a:defRPr sz="1400">
                <a:solidFill>
                  <a:srgbClr val="BBBBB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Presented for: Higher Management Review</a:t>
            </a:r>
          </a:p>
          <a:p>
            <a:pPr>
              <a:spcAft>
                <a:spcPts val="4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Date: May 2026</a:t>
            </a:r>
          </a:p>
          <a:p>
            <a:pPr>
              <a:spcAft>
                <a:spcPts val="4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Status: Market Research Complete | 103 Requirements Defined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Executive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03C"/>
                </a:solidFill>
                <a:latin typeface="Calibri"/>
              </a:defRPr>
            </a:pPr>
            <a:r>
              <a:t>5,000+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Target Merchants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09728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234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03C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Pete Markets Mapped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34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03C"/>
                </a:solidFill>
                <a:latin typeface="Calibri"/>
              </a:defRPr>
            </a:pPr>
            <a:r>
              <a:t>406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Profiled Merchants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09728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234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03C"/>
                </a:solidFill>
                <a:latin typeface="Calibri"/>
              </a:defRPr>
            </a:pPr>
            <a:r>
              <a:t>103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Requirements Defined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468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638C"/>
                </a:solidFill>
                <a:latin typeface="Calibri"/>
              </a:defRPr>
            </a:pPr>
            <a:r>
              <a:t>Platform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0175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2C2C"/>
                </a:solidFill>
                <a:latin typeface="Calibri"/>
              </a:defRPr>
            </a:pPr>
            <a:r>
              <a:t>PeteMart is a multi-tenant digital commerce marketplace migrating 5,000+</a:t>
            </a:r>
          </a:p>
          <a:p>
            <a:pPr>
              <a:spcAft>
                <a:spcPts val="400"/>
              </a:spcAft>
              <a:defRPr sz="1200">
                <a:solidFill>
                  <a:srgbClr val="2C2C2C"/>
                </a:solidFill>
                <a:latin typeface="Calibri"/>
              </a:defRPr>
            </a:pPr>
            <a:r>
              <a:t>traditional physical merchants from 21 historic Pete markets of Old Bangalore</a:t>
            </a:r>
          </a:p>
          <a:p>
            <a:pPr>
              <a:spcAft>
                <a:spcPts val="400"/>
              </a:spcAft>
              <a:defRPr sz="1200">
                <a:solidFill>
                  <a:srgbClr val="2C2C2C"/>
                </a:solidFill>
                <a:latin typeface="Calibri"/>
              </a:defRPr>
            </a:pPr>
            <a:r>
              <a:t>into a unified e-commerce ecosystem (Web + Android + iOS).</a:t>
            </a:r>
          </a:p>
          <a:p>
            <a:pPr>
              <a:spcAft>
                <a:spcPts val="400"/>
              </a:spcAft>
              <a:defRPr sz="12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C2C2C"/>
                </a:solidFill>
                <a:latin typeface="Calibri"/>
              </a:defRPr>
            </a:pPr>
            <a:r>
              <a:t>Three Interaction Modes available to every merchant:</a:t>
            </a:r>
          </a:p>
          <a:p>
            <a:pPr>
              <a:spcAft>
                <a:spcPts val="400"/>
              </a:spcAft>
              <a:defRPr sz="1200">
                <a:solidFill>
                  <a:srgbClr val="2C2C2C"/>
                </a:solidFill>
                <a:latin typeface="Calibri"/>
              </a:defRPr>
            </a:pPr>
            <a:r>
              <a:t>  Mode A - Direct Purchase (Cart &amp; Checkout)</a:t>
            </a:r>
          </a:p>
          <a:p>
            <a:pPr>
              <a:spcAft>
                <a:spcPts val="400"/>
              </a:spcAft>
              <a:defRPr sz="1200">
                <a:solidFill>
                  <a:srgbClr val="2C2C2C"/>
                </a:solidFill>
                <a:latin typeface="Calibri"/>
              </a:defRPr>
            </a:pPr>
            <a:r>
              <a:t>  Mode B - WhatsApp Enquiry (Bulk Quotes &amp; Negotiation)</a:t>
            </a:r>
          </a:p>
          <a:p>
            <a:pPr>
              <a:spcAft>
                <a:spcPts val="400"/>
              </a:spcAft>
              <a:defRPr sz="1200">
                <a:solidFill>
                  <a:srgbClr val="2C2C2C"/>
                </a:solidFill>
                <a:latin typeface="Calibri"/>
              </a:defRPr>
            </a:pPr>
            <a:r>
              <a:t>  Mode C - Visit Store (Maps &amp; Offline Footfall)</a:t>
            </a:r>
          </a:p>
          <a:p>
            <a:pPr>
              <a:spcAft>
                <a:spcPts val="400"/>
              </a:spcAft>
              <a:defRPr sz="12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C2C2C"/>
                </a:solidFill>
                <a:latin typeface="Calibri"/>
              </a:defRPr>
            </a:pPr>
            <a:r>
              <a:t>Commission: 4% B2C | 1.5% B2B (capped at Rs 500)</a:t>
            </a:r>
          </a:p>
          <a:p>
            <a:pPr>
              <a:spcAft>
                <a:spcPts val="400"/>
              </a:spcAft>
              <a:defRPr sz="1200">
                <a:solidFill>
                  <a:srgbClr val="2C2C2C"/>
                </a:solidFill>
                <a:latin typeface="Calibri"/>
              </a:defRPr>
            </a:pPr>
            <a:r>
              <a:t>Subscriptions: Starter Rs 499 | Growth Rs 999 | Premium Rs 2,499 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0175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C2C2C"/>
                </a:solidFill>
                <a:latin typeface="Calibri"/>
              </a:defRPr>
            </a:pPr>
            <a:r>
              <a:t>Key Differentiators vs Competitors:</a:t>
            </a:r>
          </a:p>
          <a:p>
            <a:pPr>
              <a:spcAft>
                <a:spcPts val="400"/>
              </a:spcAft>
              <a:defRPr sz="12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C2C2C"/>
                </a:solidFill>
                <a:latin typeface="Calibri"/>
              </a:defRPr>
            </a:pPr>
            <a:r>
              <a:t>• Zero Commission on Mode B &amp; C discovery</a:t>
            </a:r>
          </a:p>
          <a:p>
            <a:pPr>
              <a:spcAft>
                <a:spcPts val="400"/>
              </a:spcAft>
              <a:defRPr sz="1200">
                <a:solidFill>
                  <a:srgbClr val="2C2C2C"/>
                </a:solidFill>
                <a:latin typeface="Calibri"/>
              </a:defRPr>
            </a:pPr>
            <a:r>
              <a:t>• Branded Store Microsite (petemart.in/shop-name)</a:t>
            </a:r>
          </a:p>
          <a:p>
            <a:pPr>
              <a:spcAft>
                <a:spcPts val="400"/>
              </a:spcAft>
              <a:defRPr sz="1200">
                <a:solidFill>
                  <a:srgbClr val="2C2C2C"/>
                </a:solidFill>
                <a:latin typeface="Calibri"/>
              </a:defRPr>
            </a:pPr>
            <a:r>
              <a:t>• Multi-Store Order Consolidation</a:t>
            </a:r>
          </a:p>
          <a:p>
            <a:pPr>
              <a:spcAft>
                <a:spcPts val="400"/>
              </a:spcAft>
              <a:defRPr sz="1200">
                <a:solidFill>
                  <a:srgbClr val="2C2C2C"/>
                </a:solidFill>
                <a:latin typeface="Calibri"/>
              </a:defRPr>
            </a:pPr>
            <a:r>
              <a:t>• AI-Generated Product Reels &amp; Videos</a:t>
            </a:r>
          </a:p>
          <a:p>
            <a:pPr>
              <a:spcAft>
                <a:spcPts val="400"/>
              </a:spcAft>
              <a:defRPr sz="1200">
                <a:solidFill>
                  <a:srgbClr val="2C2C2C"/>
                </a:solidFill>
                <a:latin typeface="Calibri"/>
              </a:defRPr>
            </a:pPr>
            <a:r>
              <a:t>• Hyperlocal Zone-Based Delivery</a:t>
            </a:r>
          </a:p>
          <a:p>
            <a:pPr>
              <a:spcAft>
                <a:spcPts val="400"/>
              </a:spcAft>
              <a:defRPr sz="1200">
                <a:solidFill>
                  <a:srgbClr val="2C2C2C"/>
                </a:solidFill>
                <a:latin typeface="Calibri"/>
              </a:defRPr>
            </a:pPr>
            <a:r>
              <a:t>• WhatsApp Deep-Link Checkouts</a:t>
            </a:r>
          </a:p>
          <a:p>
            <a:pPr>
              <a:spcAft>
                <a:spcPts val="400"/>
              </a:spcAft>
              <a:defRPr sz="12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C2C2C"/>
                </a:solidFill>
                <a:latin typeface="Calibri"/>
              </a:defRPr>
            </a:pPr>
            <a:r>
              <a:t>One-Time Setup: Rs 86,000 - Rs 1,50,000</a:t>
            </a:r>
          </a:p>
          <a:p>
            <a:pPr>
              <a:spcAft>
                <a:spcPts val="400"/>
              </a:spcAft>
              <a:defRPr sz="1200">
                <a:solidFill>
                  <a:srgbClr val="2C2C2C"/>
                </a:solidFill>
                <a:latin typeface="Calibri"/>
              </a:defRPr>
            </a:pPr>
            <a:r>
              <a:t>Monthly Burn: Rs 43,000 - Rs 63,000</a:t>
            </a:r>
          </a:p>
          <a:p>
            <a:pPr>
              <a:spcAft>
                <a:spcPts val="400"/>
              </a:spcAft>
              <a:defRPr sz="1200">
                <a:solidFill>
                  <a:srgbClr val="2C2C2C"/>
                </a:solidFill>
                <a:latin typeface="Calibri"/>
              </a:defRPr>
            </a:pPr>
            <a:r>
              <a:t>Break-Even: 150 paid sellers (Month 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Old Bangalore Pete Markets — Coverage Map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6400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386861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Pete Market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Specialization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Mapped Stores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Available Modes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Chickpet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Textiles, Silk Sarees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Mode A/B/C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K R Market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Flowers, Fresh Produce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Mode A/B/C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Sultanpet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Paper, Wedding Cards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Mode A/B/C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Santhusapet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Cosmetics, Salon Supplies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Mode A/B/C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Huriopet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Cords, Ropes, Twines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Mode A/B/C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Balepet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Plastics, Kitchenware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Mode A/B/C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Tharagpet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Grains, Pulses, Spices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Mode A/B/C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BVK Iyengar Rd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Electrical Accessories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Mode A/B/C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Cottonpet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Footwear, Garments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Mode A/B/C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Basettyetpet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Lighting, Chandeliers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Mode A/B/C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Avenue Road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Books, Stationery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Mode A/B/C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Akkipete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Pharmaceuticals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Mode A/B/C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32320" y="10972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Total: 21 Pete Areas Mapped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Est. 5,000+ Active Merchants Ecosystem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Categories Covered (12):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Textiles &amp; Apparel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Jewellery &amp; Accessories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Electronics &amp; Electricals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Books &amp; Stationery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Grocery, FMCG &amp; Provisions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Plastics &amp; Household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Hardware &amp; Construction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Beauty &amp; Cosmetics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Pharmaceuticals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Florist &amp; Fresh Flowers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Bakery &amp; Cafe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Sports &amp; Outdoor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Avg Merchant Rating: 4.53/5.0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Calibri"/>
              </a:defRPr>
            </a:pPr>
            <a:r>
              <a:t>Schema v3.0: 17 enhanced fields per merchant (business hours, payment methods, GST, pricing tiers, facilities, etc.)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Three Merchant Interaction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Every merchant gets all three modes. Opt-in during onboarding — activate one, two, or all three based on business readiness.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4747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4747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Mode A: Direct Purchase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In-app cart &amp; checkout via Razorpay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Order tracking &amp; delivery management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Best for: FMCG, Stationery, Novelties, Bags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4% B2C | 1.5% B2B commission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463040"/>
            <a:ext cx="34747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463040"/>
            <a:ext cx="3474720" cy="502920"/>
          </a:xfrm>
          <a:prstGeom prst="rect">
            <a:avLst/>
          </a:prstGeom>
          <a:solidFill>
            <a:srgbClr val="15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087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Mode B: WhatsApp Enquiry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945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Trackable WhatsApp deep-link button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Bulk quote requests &amp; price negotiation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Best for: Textiles, Sarees, Hardware,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Wedding Cards, Electrical Components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463040"/>
            <a:ext cx="34747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463040"/>
            <a:ext cx="347472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15087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Mode C: Visit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219456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Google Maps directions &amp; store facade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Virtual window display &amp; footfall tracking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Best for: Gold/Silver Jewellery, Premium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Silks, High-Value Trust Items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486400"/>
            <a:ext cx="11247120" cy="1097280"/>
          </a:xfrm>
          <a:prstGeom prst="rect">
            <a:avLst/>
          </a:prstGeom>
          <a:solidFill>
            <a:srgbClr val="F0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5778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Merchant Onboarding Flow: Sign Up -&gt; Select Modes -&gt; Configure Preferences -&gt; Go Live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Merchants can change modes anytime via dashboard. No lock-in. Zero commission on pure discovery (Modes B &amp; C).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PeteMart Moat — Competitive Differentiation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560320"/>
                <a:gridCol w="2560320"/>
                <a:gridCol w="4754880"/>
              </a:tblGrid>
              <a:tr h="43434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Amazon / Flipkart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JustDial / Indiamart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PeteMart (Our Advantage)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Commission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15-40%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Lead-based fees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0% on Modes B/C; 1.5-4% on Mode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Store Identity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Hidden behind search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Static listing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Branded microsite (petemart.in/shop)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Product Catalog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Required &amp; controlled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Not available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Flexible catalog with AI reels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B2B Wholesale Tools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Not designed for B2B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Bulk enquiry only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MOQ toggles, tiered pricing, WhatsApp negotiation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Offline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Not supported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Basic listing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Google Maps + Store facade + Virtual Windows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Delivery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Pan-India logistics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No delivery support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Zone-based hyperlocal + multi-store consolidation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Multi-Store Cart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Single seller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Cross-Pete cart (e.g. Silk + Jewellery + Spices)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Key PeteMart Differentiators: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Zero Commission Option: Mode B (WhatsApp) and Mode C (Visit Store) are free — merchants pay only if they want Mode A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Branded Store Microsite: Every store gets petemart.in/shop-name with QR code, Google indexation, and printable marketing collateral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Hyperlocal Consolidation: Buy across 21 markets in one cart — consolidation surcharge of only Rs 25 per additional store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AI-Powered Visual Content: Auto-generated product reels for every new listing — social media ready assets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Merchant Subscription Plans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474720" cy="54864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7F8C8D"/>
                </a:solidFill>
                <a:latin typeface="Calibri"/>
              </a:defRPr>
            </a:pPr>
            <a:r>
              <a:t>Rs 499/mo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Calibri"/>
              </a:defRPr>
            </a:pPr>
            <a:r>
              <a:t>Rs 4,990/yr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50 Products max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Branded Store Page + QR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All 3 Modes available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Basic analytics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Target: Pure B2B wholesalers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starting digital presence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Tier Distribution: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80 merchants (19.7%)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28016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280160"/>
            <a:ext cx="3474720" cy="548640"/>
          </a:xfrm>
          <a:prstGeom prst="rect">
            <a:avLst/>
          </a:prstGeom>
          <a:solidFill>
            <a:srgbClr val="15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5638C"/>
                </a:solidFill>
                <a:latin typeface="Calibri"/>
              </a:defRPr>
            </a:pPr>
            <a:r>
              <a:t>Rs 999/mo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77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Calibri"/>
              </a:defRPr>
            </a:pPr>
            <a:r>
              <a:t>Rs 9,990/yr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8346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500 Products max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Cart &amp; Checkout enabled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AI Reels (1/mo) + Analytics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WhatsApp Broadcast (1K)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Razorpay integration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Target: Standard retailers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&amp; wholesalers scaling online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Tier Distribution: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306 merchants (75.4%)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128016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280160"/>
            <a:ext cx="3474720" cy="54864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PREMIUM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4A03C"/>
                </a:solidFill>
                <a:latin typeface="Calibri"/>
              </a:defRPr>
            </a:pPr>
            <a:r>
              <a:t>Rs 2,499/mo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2377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Calibri"/>
              </a:defRPr>
            </a:pPr>
            <a:r>
              <a:t>Rs 24,990/yr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9" y="283464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Unlimited Products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Concierge Reel Shoots (4/mo)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Featured Seller Badge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Homepage Banner (2d/mo)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Dedicated Account Manager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Unlimited WhatsApp Broadcast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Tier Distribution: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20 merchants (4.9%)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Revenue Model &amp; Monetization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685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35560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Revenue Stream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Rate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B2C Commission (Mode 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4.0% per 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Standard retail checkout transactions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B2B Wholesale Commission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1.5% (capped at Rs 500)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Bulk wholesale orders via Mode A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Payment Gateway Fee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2.0% pass-through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Razorpay processing (pass-through)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Catalog Digitization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Rs 10/product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Done-For-You product upload service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AI Reel Creation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Rs 999/video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Concierge reel shoots for premium 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Sponsored CPC Listings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Rs 2.00/click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Search result boost for featured products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Homepage Banner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Rs 499/day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Premium homepage real estate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Courier Platform Share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15% of delivery fee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Zone-based delivery fee split (85/15)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0972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Projected Revenue Mix (at 400 sellers):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Subscription MRR:   Rs 3,75,000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Transaction Fees:   Rs 1,20,000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Value-Added Svc:    Rs    45,000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Delivery Revenue:   Rs    30,000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─────────────────────────────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Total Est. MRR:     Rs 5,70,000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(Year 1 Target: 400 paid sellers)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Year 2 Target: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2,000 sellers → Rs 17L/mo MRR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→ Rs 2 Crore ARR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  <a:latin typeface="Calibri"/>
              </a:defRPr>
            </a:pPr>
            <a:r>
              <a:t>Delivery Cost Model: Zone 1 (0-3km): Rs 40 retail / Rs 60 wholesale | Zone 2 (3-7km): Rs 70 / Rs 110 | Zone 3 (7+km): Rs 110 / Rs 180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Financial Projections &amp; Break-Even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(Rs)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Company Registration &amp; Trademarks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12,500 - 24,000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App Store Listings (Apple + Google)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10,400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Legal 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25,000 - 40,000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Cloud, Supabase &amp; DB Provisioning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10,000 - 20,000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First 50 Onboarding Visits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25,000 - 50,000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Total Setup Cost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86,000 - 1,50,000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93192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4290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Monthly (Rs)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Cloud Infra (Supabase, Railway, Vercel)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1,300 - 4,000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Communications (OTP, SMS, WhatsApp)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3,000 - 5,000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Google Maps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1,500 - 3,000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AI API Suite (Claude, OpenAI, etc.)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10,500 - 16,000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Legal, Compliance &amp; 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8,000 - 10,000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Field Onboarding Executive (1x)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20,000 - 25,000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Total Monthly Burn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43,000 - 63,000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60720" y="10972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638C"/>
                </a:solidFill>
                <a:latin typeface="Calibri"/>
              </a:defRPr>
            </a:pPr>
            <a:r>
              <a:t>Growth Milestones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1737360"/>
            <a:ext cx="59436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60720" y="1737360"/>
            <a:ext cx="73152" cy="10058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62828"/>
                </a:solidFill>
                <a:latin typeface="Calibri"/>
              </a:defRPr>
            </a:pPr>
            <a:r>
              <a:t>Milestone 1: 50 Paid Sellers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783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Month 4-5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~Rs 30K MRR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148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2C2C"/>
                </a:solidFill>
                <a:latin typeface="Calibri"/>
              </a:defRPr>
            </a:pPr>
            <a:r>
              <a:t>Covers basic cloud + amortised setup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2926080"/>
            <a:ext cx="59436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0" y="2926080"/>
            <a:ext cx="731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Milestone 2: 150 Paid Sellers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971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Month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971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~Rs 1.15L MRR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3375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2C2C"/>
                </a:solidFill>
                <a:latin typeface="Calibri"/>
              </a:defRPr>
            </a:pPr>
            <a:r>
              <a:t>SELF-SUSTAINING — covers full monthly burn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4114800"/>
            <a:ext cx="59436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0" y="4114800"/>
            <a:ext cx="73152" cy="1005840"/>
          </a:xfrm>
          <a:prstGeom prst="rect">
            <a:avLst/>
          </a:prstGeom>
          <a:solidFill>
            <a:srgbClr val="15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4160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5638C"/>
                </a:solidFill>
                <a:latin typeface="Calibri"/>
              </a:defRPr>
            </a:pPr>
            <a:r>
              <a:t>Milestone 3: 400 Paid Sellers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160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Month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160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~Rs 3.75L MRR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526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2C2C"/>
                </a:solidFill>
                <a:latin typeface="Calibri"/>
              </a:defRPr>
            </a:pPr>
            <a:r>
              <a:t>Solid operational profitability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5303520"/>
            <a:ext cx="59436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60720" y="5303520"/>
            <a:ext cx="73152" cy="100584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5349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03C"/>
                </a:solidFill>
                <a:latin typeface="Calibri"/>
              </a:defRPr>
            </a:pPr>
            <a:r>
              <a:t>Milestone 4: 2,000 Paid Sellers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5349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Year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5349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~Rs 17L MRR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5715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2C2C"/>
                </a:solidFill>
                <a:latin typeface="Calibri"/>
              </a:defRPr>
            </a:pPr>
            <a:r>
              <a:t>~Rs 2 Cr ARR — ready for multi-city expansion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638C"/>
                </a:solidFill>
                <a:latin typeface="Calibri"/>
              </a:defRPr>
            </a:pPr>
            <a:r>
              <a:t>Product Requirements — 103 Requirements Across 10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5638C"/>
                </a:solidFill>
                <a:latin typeface="Calibri"/>
              </a:defRPr>
            </a:pPr>
            <a: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Total Requirements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09728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234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5638C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User Workflows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34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5638C"/>
                </a:solidFill>
                <a:latin typeface="Calibri"/>
              </a:defRPr>
            </a:pPr>
            <a:r>
              <a:t>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Use Cases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097280"/>
            <a:ext cx="25603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234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5638C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User Personas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74320" y="237744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31520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2C2C"/>
                </a:solidFill>
                <a:latin typeface="Calibri"/>
              </a:defRPr>
            </a:pPr>
            <a:r>
              <a:t>By Priority Level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315200" y="2834640"/>
          <a:ext cx="4389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</a:tblGrid>
              <a:tr h="402336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P0 - 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40.8%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P1 - High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39.8%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P2 - 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P3 - Low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3.9%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315200" y="50292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P0 + P1 = 83 requirements (80.6%)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are Critical or High priority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Categories with most requirements: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Backend/Data: 26 | UI/UX: 24 | API: 13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Infra/Security: 11 | Commerce: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User Personas — Target Audience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21945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194560" cy="548640"/>
          </a:xfrm>
          <a:prstGeom prst="rect">
            <a:avLst/>
          </a:prstGeom>
          <a:solidFill>
            <a:srgbClr val="15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Priya Sharma</a:t>
            </a:r>
            <a:br/>
            <a:r>
              <a:t>Hyperlocal 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2C2C"/>
                </a:solidFill>
                <a:latin typeface="Calibri"/>
              </a:defRPr>
            </a:pPr>
            <a:r>
              <a:t>34, Homemaker &amp;</a:t>
            </a:r>
            <a:br/>
            <a:r>
              <a:t>Boutique Owner</a:t>
            </a:r>
            <a:br/>
            <a:r>
              <a:t>Basavanagudi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7F8C8D"/>
                </a:solidFill>
                <a:latin typeface="Calibri"/>
              </a:defRPr>
            </a:pPr>
            <a:r>
              <a:t>DEVICE &amp; 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260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2C2C"/>
                </a:solidFill>
                <a:latin typeface="Calibri"/>
              </a:defRPr>
            </a:pPr>
            <a:r>
              <a:t>Android &amp; Laptop</a:t>
            </a:r>
            <a:br/>
            <a:r>
              <a:t>Moderate tech literacy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5661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7F8C8D"/>
                </a:solidFill>
                <a:latin typeface="Calibri"/>
              </a:defRPr>
            </a:pPr>
            <a:r>
              <a:t>KEY NEEDS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749039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2C2C"/>
                </a:solidFill>
                <a:latin typeface="Calibri"/>
              </a:defRPr>
            </a:pPr>
            <a:r>
              <a:t>Browse + buy across</a:t>
            </a:r>
            <a:br/>
            <a:r>
              <a:t>multiple Pete markets</a:t>
            </a:r>
            <a:br/>
            <a:r>
              <a:t>Consolidated delivery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188720"/>
            <a:ext cx="21945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06040" y="1188720"/>
            <a:ext cx="2194560" cy="548640"/>
          </a:xfrm>
          <a:prstGeom prst="rect">
            <a:avLst/>
          </a:prstGeom>
          <a:solidFill>
            <a:srgbClr val="15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1234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Ramesh Gupta</a:t>
            </a:r>
            <a:br/>
            <a:r>
              <a:t>Traditional Merchant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19202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2C2C"/>
                </a:solidFill>
                <a:latin typeface="Calibri"/>
              </a:defRPr>
            </a:pPr>
            <a:r>
              <a:t>52, 3rd Gen Silk</a:t>
            </a:r>
            <a:br/>
            <a:r>
              <a:t>Showroom Owner</a:t>
            </a:r>
            <a:br/>
            <a:r>
              <a:t>Chickpet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7432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7F8C8D"/>
                </a:solidFill>
                <a:latin typeface="Calibri"/>
              </a:defRPr>
            </a:pPr>
            <a:r>
              <a:t>DEVICE &amp;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9260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2C2C"/>
                </a:solidFill>
                <a:latin typeface="Calibri"/>
              </a:defRPr>
            </a:pPr>
            <a:r>
              <a:t>Smartphone</a:t>
            </a:r>
            <a:br/>
            <a:r>
              <a:t>Low-moderate tech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5661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7F8C8D"/>
                </a:solidFill>
                <a:latin typeface="Calibri"/>
              </a:defRPr>
            </a:pPr>
            <a:r>
              <a:t>KEY NEEDS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749039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2C2C"/>
                </a:solidFill>
                <a:latin typeface="Calibri"/>
              </a:defRPr>
            </a:pPr>
            <a:r>
              <a:t>Digital storefront</a:t>
            </a:r>
            <a:br/>
            <a:r>
              <a:t>WhatsApp enquiries</a:t>
            </a:r>
            <a:br/>
            <a:r>
              <a:t>Bulk order mgmt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1188720"/>
            <a:ext cx="21945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1188720"/>
            <a:ext cx="2194560" cy="548640"/>
          </a:xfrm>
          <a:prstGeom prst="rect">
            <a:avLst/>
          </a:prstGeom>
          <a:solidFill>
            <a:srgbClr val="15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1234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Vinay Kumar</a:t>
            </a:r>
            <a:br/>
            <a:r>
              <a:t>Delivery Partner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19202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2C2C"/>
                </a:solidFill>
                <a:latin typeface="Calibri"/>
              </a:defRPr>
            </a:pPr>
            <a:r>
              <a:t>28, Independent</a:t>
            </a:r>
            <a:br/>
            <a:r>
              <a:t>Courier Partner</a:t>
            </a:r>
            <a:br/>
            <a:r>
              <a:t>Near Chickpet 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7432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7F8C8D"/>
                </a:solidFill>
                <a:latin typeface="Calibri"/>
              </a:defRPr>
            </a:pPr>
            <a:r>
              <a:t>DEVICE &amp; TECH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9260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2C2C"/>
                </a:solidFill>
                <a:latin typeface="Calibri"/>
              </a:defRPr>
            </a:pPr>
            <a:r>
              <a:t>Android Courier App</a:t>
            </a:r>
            <a:br/>
            <a:r>
              <a:t>Moderate tech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5661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7F8C8D"/>
                </a:solidFill>
                <a:latin typeface="Calibri"/>
              </a:defRPr>
            </a:pPr>
            <a:r>
              <a:t>KEY NEEDS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749039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2C2C"/>
                </a:solidFill>
                <a:latin typeface="Calibri"/>
              </a:defRPr>
            </a:pPr>
            <a:r>
              <a:t>Multi-store pickup</a:t>
            </a:r>
            <a:br/>
            <a:r>
              <a:t>Micro-hub consolidation</a:t>
            </a:r>
            <a:br/>
            <a:r>
              <a:t>Single-drop delivery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69479" y="1188720"/>
            <a:ext cx="21945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69479" y="1188720"/>
            <a:ext cx="2194560" cy="548640"/>
          </a:xfrm>
          <a:prstGeom prst="rect">
            <a:avLst/>
          </a:prstGeom>
          <a:solidFill>
            <a:srgbClr val="15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60919" y="1234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Ananya Rao</a:t>
            </a:r>
            <a:br/>
            <a:r>
              <a:t>Platform 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19" y="19202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2C2C"/>
                </a:solidFill>
                <a:latin typeface="Calibri"/>
              </a:defRPr>
            </a:pPr>
            <a:r>
              <a:t>31, Operations</a:t>
            </a:r>
            <a:br/>
            <a:r>
              <a:t>Manager</a:t>
            </a:r>
            <a:br/>
            <a:r>
              <a:t>Remote, Bangalore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19" y="27432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7F8C8D"/>
                </a:solidFill>
                <a:latin typeface="Calibri"/>
              </a:defRPr>
            </a:pPr>
            <a:r>
              <a:t>DEVICE &amp; TECH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19" y="29260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2C2C"/>
                </a:solidFill>
                <a:latin typeface="Calibri"/>
              </a:defRPr>
            </a:pPr>
            <a:r>
              <a:t>Laptop + Alerts</a:t>
            </a:r>
            <a:br/>
            <a:r>
              <a:t>High tech literacy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19" y="35661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7F8C8D"/>
                </a:solidFill>
                <a:latin typeface="Calibri"/>
              </a:defRPr>
            </a:pPr>
            <a:r>
              <a:t>KEY NEEDS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19" y="3749039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2C2C"/>
                </a:solidFill>
                <a:latin typeface="Calibri"/>
              </a:defRPr>
            </a:pPr>
            <a:r>
              <a:t>Merchant management</a:t>
            </a:r>
            <a:br/>
            <a:r>
              <a:t>Dashboard &amp; analytics</a:t>
            </a:r>
            <a:br/>
            <a:r>
              <a:t>Dispute resolution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0" y="1188720"/>
            <a:ext cx="21945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01200" y="1188720"/>
            <a:ext cx="2194560" cy="548640"/>
          </a:xfrm>
          <a:prstGeom prst="rect">
            <a:avLst/>
          </a:prstGeom>
          <a:solidFill>
            <a:srgbClr val="15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0" y="12344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Deepa Patel</a:t>
            </a:r>
            <a:br/>
            <a:r>
              <a:t>B2B Wholesale Buyer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19202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2C2C"/>
                </a:solidFill>
                <a:latin typeface="Calibri"/>
              </a:defRPr>
            </a:pPr>
            <a:r>
              <a:t>38, Wedding</a:t>
            </a:r>
            <a:br/>
            <a:r>
              <a:t>Planner / Reseller</a:t>
            </a:r>
            <a:br/>
            <a:r>
              <a:t>Malleswaram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27432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7F8C8D"/>
                </a:solidFill>
                <a:latin typeface="Calibri"/>
              </a:defRPr>
            </a:pPr>
            <a:r>
              <a:t>DEVICE &amp; TECH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29260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2C2C"/>
                </a:solidFill>
                <a:latin typeface="Calibri"/>
              </a:defRPr>
            </a:pPr>
            <a:r>
              <a:t>Smartphone + Laptop</a:t>
            </a:r>
            <a:br/>
            <a:r>
              <a:t>Moderate tech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35661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7F8C8D"/>
                </a:solidFill>
                <a:latin typeface="Calibri"/>
              </a:defRPr>
            </a:pPr>
            <a:r>
              <a:t>KEY NEEDS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3749039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2C2C"/>
                </a:solidFill>
                <a:latin typeface="Calibri"/>
              </a:defRPr>
            </a:pPr>
            <a:r>
              <a:t>Bulk ordering</a:t>
            </a:r>
            <a:br/>
            <a:r>
              <a:t>MOQ &amp; tiered pricing</a:t>
            </a:r>
            <a:br/>
            <a:r>
              <a:t>Negotiation via WhatsApp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Key Requirements — Representative Sample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03327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7315200"/>
                <a:gridCol w="731520"/>
              </a:tblGrid>
              <a:tr h="314325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 ID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UI-001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UI/UX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Responsive web app with mobile-first design supporting all 3 modes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UI-005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UI/UX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Merchant dashboard for product catalog, order mgmt, analytics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UI-012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UI/UX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Multi-store cart with consolidated checkout across Pete markets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API-001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API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RESTful API for product catalog CRUD with pagination &amp; filtering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API-005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WhatsApp Business API integration for Mode B enquiry 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BE-001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Multi-tenant merchant architecture with isolated store profiles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BE-005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Zone-based dynamic delivery fee calculator with weight surcharges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BE-012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Order lifecycle engine with multi-store pickup routing to micro-hub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COM-001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Razorpay payment gateway with escrow and split payments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COM-005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Subscription billing engine with monthly/annual plans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INFRA-001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Infra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Supabase PostgreSQL with Row Level Security per merchant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INFRA-005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Infra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Redis caching layer for product catalog with TTL invalidation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SEC-001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JWT-based authentication with OTP login and role-based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DR-001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DR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Automated daily PostgreSQL backups with 30-day retention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AI-001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Auto-generation of product reels from merchant uploaded images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MVP Scope — Phase 1: Core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MVP Includes (P0 - 42 Critical Requirements):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In-Scope for MVP: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Web &amp; Mobile (React + React Native)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Mode A, B, C implementation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Multi-store cart &amp; consolidated checkout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Razorpay payment integration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Merchant onboarding &amp; dashboard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Product catalog management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WhatsApp enquiry routing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Google Maps store integration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Zone-based hyperlocal delivery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Admin panel &amp; analytics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JWT auth + role-based access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Supabase PostgreSQL + Redis cache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Basic SEO &amp; Google indexation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Post-MVP (P1-P3 - 61 requirements):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Deferred to Post-Launch: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AI-Generated product reels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WhatsApp broadcast marketing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Sponsored CPC listings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Multi-city expansion framework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Advanced analytics dashboard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Customer review system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Virtual Walk &amp; Live Bazaar (Phase 2)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Co-Shopping features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ShipRocket logistics integration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Data licensing marketplace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AI Virtual Try-On (jewellery)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  Kill-switch &amp; circuit breaker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0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38C"/>
                </a:solidFill>
                <a:latin typeface="Calibri"/>
              </a:defRPr>
            </a:pPr>
            <a:r>
              <a:t>MVP Success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50 pilot merchants onboarded across 5 core Pete markets (Chickpet, Balepet, Mamulpet, KR Market, Avenue Road)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All 3 interaction modes functional with end-to-end order lifecycle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Multi-store consolidated cart with zone-based delivery working in production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Monthly Active Merchants (MAM) &gt;= 40 | Monthly Active Buyers (MAB) &gt;= 500 | Avg Order Value &gt;= Rs 800</a:t>
            </a:r>
          </a:p>
          <a:p>
            <a:pPr>
              <a:spcAft>
                <a:spcPts val="4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Platform Uptime &gt;= 99.5% | API Response Time &lt; 200ms p95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Proposed 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6217920"/>
              </a:tblGrid>
              <a:tr h="35922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5638C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Frontend (Web)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React / Next.js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Responsive PWA with SSR, SEO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Mobile (Android)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React Native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Cross-platform shared logic with web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Mobile (iOS)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React Native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Single codebase with Android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Backend / API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Node.js / Express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RESTful API gateway with rate limiting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Supabase (PostgreSQL)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Multi-tenant with Row Level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Cache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Redis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Product catalog cache with TTL invalidation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Supabase Auth + JWT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OTP login, role-based access, SSO 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Payments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Razorpay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Escrow, split payments, subscription billing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Hosting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Vercel + Railway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Serverless frontend + containerized 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Messaging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WhatsApp Business API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Deep-link enquiries, order notifications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Supabase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Product images, store photos, reels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Search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Elasticsearch / MeiliSearch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Full-text product &amp; store search</a:t>
                      </a:r>
                    </a:p>
                  </a:txBody>
                  <a:tcPr>
                    <a:solidFill>
                      <a:srgbClr val="F0EEE9"/>
                    </a:solidFill>
                  </a:tcPr>
                </a:tc>
              </a:tr>
              <a:tr h="3592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PostHog + Metabase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Product analytics + business intelligence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5638C"/>
                </a:solidFill>
                <a:latin typeface="Calibri"/>
              </a:defRPr>
            </a:pPr>
            <a:r>
              <a:t>Implementation Roadmap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5603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560320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  <a:br/>
            <a:r>
              <a:t>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Calibri"/>
              </a:defRPr>
            </a:pPr>
            <a:r>
              <a:t>Month 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Tech stack finalisation</a:t>
            </a:r>
          </a:p>
          <a:p>
            <a:pPr>
              <a:spcAft>
                <a:spcPts val="4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Architecture blueprint</a:t>
            </a:r>
          </a:p>
          <a:p>
            <a:pPr>
              <a:spcAft>
                <a:spcPts val="4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POC &amp; prototype build</a:t>
            </a:r>
          </a:p>
          <a:p>
            <a:pPr>
              <a:spcAft>
                <a:spcPts val="4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DevOps pipeline setup</a:t>
            </a:r>
          </a:p>
          <a:p>
            <a:pPr>
              <a:spcAft>
                <a:spcPts val="4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Sprint 0: Foundation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188720"/>
            <a:ext cx="25603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188720"/>
            <a:ext cx="2560320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234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  <a:br/>
            <a:r>
              <a:t>Core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Calibri"/>
              </a:defRPr>
            </a:pPr>
            <a:r>
              <a:t>Month 3-4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3774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MVP frontend (web + mobile)</a:t>
            </a:r>
          </a:p>
          <a:p>
            <a:pPr>
              <a:spcAft>
                <a:spcPts val="4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API gateway &amp; endpoints</a:t>
            </a:r>
          </a:p>
          <a:p>
            <a:pPr>
              <a:spcAft>
                <a:spcPts val="4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Database schema &amp; migration</a:t>
            </a:r>
          </a:p>
          <a:p>
            <a:pPr>
              <a:spcAft>
                <a:spcPts val="4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Integration &amp; QA</a:t>
            </a:r>
          </a:p>
          <a:p>
            <a:pPr>
              <a:spcAft>
                <a:spcPts val="4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Staging deployment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188720"/>
            <a:ext cx="25603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1188720"/>
            <a:ext cx="256032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234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  <a:br/>
            <a:r>
              <a:t>Launch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Calibri"/>
              </a:defRPr>
            </a:pPr>
            <a:r>
              <a:t>Month 5-6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3774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50 pilot merchant onboarding</a:t>
            </a:r>
          </a:p>
          <a:p>
            <a:pPr>
              <a:spcAft>
                <a:spcPts val="4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Production deployment</a:t>
            </a:r>
          </a:p>
          <a:p>
            <a:pPr>
              <a:spcAft>
                <a:spcPts val="4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Marketing &amp; SEO launch</a:t>
            </a:r>
          </a:p>
          <a:p>
            <a:pPr>
              <a:spcAft>
                <a:spcPts val="4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Customer support setup</a:t>
            </a:r>
          </a:p>
          <a:p>
            <a:pPr>
              <a:spcAft>
                <a:spcPts val="4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Post-launch monitoring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1188720"/>
            <a:ext cx="25603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0" y="1188720"/>
            <a:ext cx="2560320" cy="914400"/>
          </a:xfrm>
          <a:prstGeom prst="rect">
            <a:avLst/>
          </a:prstGeom>
          <a:solidFill>
            <a:srgbClr val="15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1234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  <a:br/>
            <a:r>
              <a:t>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DDD"/>
                </a:solidFill>
                <a:latin typeface="Calibri"/>
              </a:defRPr>
            </a:pPr>
            <a:r>
              <a:t>Month 7-12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237744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150+ merchant acquisition</a:t>
            </a:r>
          </a:p>
          <a:p>
            <a:pPr>
              <a:spcAft>
                <a:spcPts val="4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AI reels &amp; smart features</a:t>
            </a:r>
          </a:p>
          <a:p>
            <a:pPr>
              <a:spcAft>
                <a:spcPts val="4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Multi-city expansion prep</a:t>
            </a:r>
          </a:p>
          <a:p>
            <a:pPr>
              <a:spcAft>
                <a:spcPts val="4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B2B wholesale marketplace</a:t>
            </a:r>
          </a:p>
          <a:p>
            <a:pPr>
              <a:spcAft>
                <a:spcPts val="400"/>
              </a:spcAft>
              <a:defRPr sz="1000">
                <a:solidFill>
                  <a:srgbClr val="2C2C2C"/>
                </a:solidFill>
                <a:latin typeface="Calibri"/>
              </a:defRPr>
            </a:pPr>
            <a:r>
              <a:t>Target: Rs 3.75L MRR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D4A03C"/>
                </a:solidFill>
                <a:latin typeface="Calibri"/>
              </a:defRPr>
            </a:pPr>
            <a:r>
              <a:t>PeteMart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Transforming Old Bangalore's Historic Trade into India's Most Unique E-Commerce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383280"/>
            <a:ext cx="2743200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103 Requirements Ready | 406 Merchants Profiled | 21 Markets Mapped</a:t>
            </a:r>
          </a:p>
          <a:p>
            <a:pPr>
              <a:spcAft>
                <a:spcPts val="4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Setup Cost: Rs 86K - 1.5L | Monthly Burn: Rs 43K - 63K | Break-Even: Month 6</a:t>
            </a:r>
          </a:p>
          <a:p>
            <a:pPr>
              <a:spcAft>
                <a:spcPts val="400"/>
              </a:spcAft>
              <a:defRPr sz="1400">
                <a:solidFill>
                  <a:srgbClr val="BBBBB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BBBBBB"/>
                </a:solidFill>
                <a:latin typeface="Calibri"/>
              </a:defRPr>
            </a:pPr>
            <a:r>
              <a:t>Next Step: Architecture Design &amp; POC — Awaiting Management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03C"/>
                </a:solidFill>
                <a:latin typeface="Calibri"/>
              </a:defRPr>
            </a:pPr>
            <a:r>
              <a:t>Thank You |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